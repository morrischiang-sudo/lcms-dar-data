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>
      <p:cViewPr varScale="1">
        <p:scale>
          <a:sx n="110" d="100"/>
          <a:sy n="110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0758AB-71CB-27E1-AAFB-6B2BB21AAA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F2ED72-0BD0-9213-A87F-FD3C5496F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938737-869C-9717-1121-5125C4AF9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9B93-C3E4-4841-AAB6-024892523D40}" type="datetimeFigureOut">
              <a:rPr lang="zh-TW" altLang="en-US" smtClean="0"/>
              <a:t>2026/8/19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ADD981-4EE6-0F43-0ED5-1217BB22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6CC1E78-32F9-796B-4195-0ADC0A57B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6734-42A1-459E-B40C-1A425BDECE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2798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0B14E2-A5EA-8579-CE60-0EB3C5BC3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28DB07-462A-E467-35B1-E51D8F513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CC168A-6109-2F75-DB08-F35A71E4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9B93-C3E4-4841-AAB6-024892523D40}" type="datetimeFigureOut">
              <a:rPr lang="zh-TW" altLang="en-US" smtClean="0"/>
              <a:t>2026/8/19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3E24120-6BBE-B1BE-187E-AA76B60C0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D552C0-BEAC-EDAF-BD12-0659C633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6734-42A1-459E-B40C-1A425BDECE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3497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281AA6-7664-277E-2E1D-DF045C6C4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723C920-7796-06A9-F8D7-DC9411ECE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D1F82C9-7053-E094-45C5-E1CBC78AA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9B93-C3E4-4841-AAB6-024892523D40}" type="datetimeFigureOut">
              <a:rPr lang="zh-TW" altLang="en-US" smtClean="0"/>
              <a:t>2026/8/19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4E50DE-E782-A730-E7A8-F2AB0C639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EE2460-47A8-1E39-0A87-A90221C33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6734-42A1-459E-B40C-1A425BDECE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6986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01A360-FDF1-7767-CA78-23D7C1B6D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7B1164-9B27-3DA7-5730-A4DF19954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F7CC0C0-B9B5-7925-25EB-889B8B703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0C25ABA-C9E2-AA40-9EA7-CEF5E4C31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9B93-C3E4-4841-AAB6-024892523D40}" type="datetimeFigureOut">
              <a:rPr lang="zh-TW" altLang="en-US" smtClean="0"/>
              <a:t>2026/8/19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6B9400-70C1-8899-2B66-9E550669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6E14C3-BBFA-A62C-6911-281005D7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6734-42A1-459E-B40C-1A425BDECE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6338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F37D6F-7C02-1D19-F34D-F91FF2375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66CD429-D16C-F641-4E83-B9D1C4BCC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40D87D-1A07-1D38-C287-F170135DA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3DCCB02-D296-E0DE-411A-395B787091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080BAF0-D7EE-BC8B-36A9-D0CC23059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F44C3D8-D593-966F-091D-25974446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9B93-C3E4-4841-AAB6-024892523D40}" type="datetimeFigureOut">
              <a:rPr lang="zh-TW" altLang="en-US" smtClean="0"/>
              <a:t>2026/8/19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755154A-25BD-E7F4-5912-7669391C4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5CBAA60-8EAF-1653-29D6-4998F5E8E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6734-42A1-459E-B40C-1A425BDECE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9321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89CAC5-FC06-9E85-A9D8-6F39BE037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A9E1E13-879D-84D5-B9DB-20B802CF8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9B93-C3E4-4841-AAB6-024892523D40}" type="datetimeFigureOut">
              <a:rPr lang="zh-TW" altLang="en-US" smtClean="0"/>
              <a:t>2026/8/19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079F6E7-D128-D680-876A-70E501F2D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548B1B-E16A-E399-9E78-9385E1B6F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6734-42A1-459E-B40C-1A425BDECE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1643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0F4BF1F-0BA7-A49C-9533-F73D56996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9B93-C3E4-4841-AAB6-024892523D40}" type="datetimeFigureOut">
              <a:rPr lang="zh-TW" altLang="en-US" smtClean="0"/>
              <a:t>2026/8/19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009DA4A-2FF1-C95B-0A2F-A8F4FAC77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3CB1F0-9E11-27F9-F1B7-3E771C10E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6734-42A1-459E-B40C-1A425BDECE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8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D5F83C-546E-7F23-E045-08700DFA1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EC6AC4-6B54-2245-CEBF-763F3D4CE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8C570A1-E877-612F-E45E-509E68E4F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EBD3049-6235-10E0-40A8-459BBBC2D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9B93-C3E4-4841-AAB6-024892523D40}" type="datetimeFigureOut">
              <a:rPr lang="zh-TW" altLang="en-US" smtClean="0"/>
              <a:t>2026/8/19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CA66F85-F78F-6300-8493-C3C43177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F380F8C-E3A8-E842-E8F8-116F26762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6734-42A1-459E-B40C-1A425BDECE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7051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3A865E-61EE-4245-17E2-E68D26094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3C611FE-E4D6-7EB0-4BCC-73D748F1F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9773ABE-737B-5F45-AA0A-F645212B6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68AFE75-DFA9-5B7A-EB54-F0C762E20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9B93-C3E4-4841-AAB6-024892523D40}" type="datetimeFigureOut">
              <a:rPr lang="zh-TW" altLang="en-US" smtClean="0"/>
              <a:t>2026/8/19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54FA7E2-3FD0-1D28-2F99-2EA45F17F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BC5B8EA-D768-1BD3-7C1A-F37DE7AC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6734-42A1-459E-B40C-1A425BDECE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1739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E6A970-4879-BFB2-9888-C73EE5725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0577FCC-70D8-0E6E-181A-E2C7DC08D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97F4A27-5C95-6547-C76B-633C46A5E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9B93-C3E4-4841-AAB6-024892523D40}" type="datetimeFigureOut">
              <a:rPr lang="zh-TW" altLang="en-US" smtClean="0"/>
              <a:t>2026/8/19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B8619F-4032-EFDD-1797-534F5B24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565534-81FD-0A97-1701-B42D02FBD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6734-42A1-459E-B40C-1A425BDECE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2976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8B53FC6-E784-91FA-877C-2A7E478682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91349C4-7F0A-B9C1-F509-CF31A18D9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2B7E63-58D1-4B2D-3898-61B58815A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9B93-C3E4-4841-AAB6-024892523D40}" type="datetimeFigureOut">
              <a:rPr lang="zh-TW" altLang="en-US" smtClean="0"/>
              <a:t>2026/8/19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65E516-80FA-9018-44DE-AEE623B40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256FF4-F9B7-E7FE-4390-CDAE8A760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6734-42A1-459E-B40C-1A425BDECE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9144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3924F5B-F396-94AC-AF86-F40656350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CBF6529-CFCE-EA32-91E7-CC9CDB7DC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411507-FF33-787F-6351-97FD9879CD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9A9B93-C3E4-4841-AAB6-024892523D40}" type="datetimeFigureOut">
              <a:rPr lang="zh-TW" altLang="en-US" smtClean="0"/>
              <a:t>2026/8/19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971410-0212-B296-62FE-7A065D190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0F39072-6038-0997-1553-534D9EDA0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D6734-42A1-459E-B40C-1A425BDECE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348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CA04447-F2B3-0BA5-4520-8D7E23940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55" y="817904"/>
            <a:ext cx="2285714" cy="140000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3A645401-6116-4925-BBEC-D6A1B1750811}"/>
              </a:ext>
            </a:extLst>
          </p:cNvPr>
          <p:cNvSpPr txBox="1"/>
          <p:nvPr/>
        </p:nvSpPr>
        <p:spPr>
          <a:xfrm>
            <a:off x="1905149" y="1291045"/>
            <a:ext cx="14350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 err="1">
                <a:solidFill>
                  <a:srgbClr val="FF0000"/>
                </a:solidFill>
              </a:rPr>
              <a:t>mAb</a:t>
            </a:r>
            <a:r>
              <a:rPr lang="zh-TW" altLang="en-US" sz="1600" b="1" dirty="0">
                <a:solidFill>
                  <a:srgbClr val="FF0000"/>
                </a:solidFill>
              </a:rPr>
              <a:t>測試檔案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A1528EDB-DE00-3AFC-840A-F78727A069C9}"/>
              </a:ext>
            </a:extLst>
          </p:cNvPr>
          <p:cNvSpPr txBox="1"/>
          <p:nvPr/>
        </p:nvSpPr>
        <p:spPr>
          <a:xfrm>
            <a:off x="2417537" y="1720112"/>
            <a:ext cx="1422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ADC</a:t>
            </a:r>
            <a:r>
              <a:rPr lang="zh-TW" altLang="en-US" sz="1600" b="1" dirty="0">
                <a:solidFill>
                  <a:srgbClr val="FF0000"/>
                </a:solidFill>
              </a:rPr>
              <a:t>測試檔案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6D90A61-4555-AE83-266B-33B69EBCC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863" y="1291045"/>
            <a:ext cx="6980676" cy="4053953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CCFD95DE-8F54-E245-4085-10A3E55E11D1}"/>
              </a:ext>
            </a:extLst>
          </p:cNvPr>
          <p:cNvSpPr/>
          <p:nvPr/>
        </p:nvSpPr>
        <p:spPr>
          <a:xfrm>
            <a:off x="5166239" y="1460320"/>
            <a:ext cx="709552" cy="38646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CFFB012-2491-8873-B971-BA397455C68F}"/>
              </a:ext>
            </a:extLst>
          </p:cNvPr>
          <p:cNvSpPr/>
          <p:nvPr/>
        </p:nvSpPr>
        <p:spPr>
          <a:xfrm>
            <a:off x="6958825" y="1460321"/>
            <a:ext cx="722376" cy="38646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0FE826-69F4-8427-DEDD-60C576A293DD}"/>
              </a:ext>
            </a:extLst>
          </p:cNvPr>
          <p:cNvSpPr/>
          <p:nvPr/>
        </p:nvSpPr>
        <p:spPr>
          <a:xfrm>
            <a:off x="10449163" y="1513002"/>
            <a:ext cx="722376" cy="38646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3AD1645-0D65-424C-1463-05F69B44B345}"/>
              </a:ext>
            </a:extLst>
          </p:cNvPr>
          <p:cNvSpPr txBox="1"/>
          <p:nvPr/>
        </p:nvSpPr>
        <p:spPr>
          <a:xfrm>
            <a:off x="240632" y="482864"/>
            <a:ext cx="9596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通常會用到檔案中的幾個</a:t>
            </a:r>
            <a:r>
              <a:rPr lang="en-US" altLang="zh-TW" b="1" dirty="0"/>
              <a:t>parameters: </a:t>
            </a:r>
            <a:r>
              <a:rPr lang="en-US" altLang="zh-TW" b="1" dirty="0" err="1"/>
              <a:t>eg.</a:t>
            </a:r>
            <a:r>
              <a:rPr lang="en-US" altLang="zh-TW" b="1" dirty="0"/>
              <a:t> Average Mass, Intensity and Fractional abundance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057405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7A76AEC-AF2D-D9B3-E754-2AA69FB00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8788"/>
            <a:ext cx="12192000" cy="4620423"/>
          </a:xfrm>
          <a:prstGeom prst="rect">
            <a:avLst/>
          </a:prstGeom>
        </p:spPr>
      </p:pic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BFF0D08-6B6B-9E67-7338-7EA3B92EBDDD}"/>
              </a:ext>
            </a:extLst>
          </p:cNvPr>
          <p:cNvCxnSpPr>
            <a:cxnSpLocks/>
          </p:cNvCxnSpPr>
          <p:nvPr/>
        </p:nvCxnSpPr>
        <p:spPr>
          <a:xfrm flipV="1">
            <a:off x="644893" y="2021305"/>
            <a:ext cx="7536581" cy="341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B37D82FE-CF66-090E-E9EC-B4A4A0540929}"/>
              </a:ext>
            </a:extLst>
          </p:cNvPr>
          <p:cNvCxnSpPr>
            <a:cxnSpLocks/>
          </p:cNvCxnSpPr>
          <p:nvPr/>
        </p:nvCxnSpPr>
        <p:spPr>
          <a:xfrm>
            <a:off x="712270" y="2363001"/>
            <a:ext cx="7584707" cy="10659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613EF0F1-A827-008A-4ECF-7AACD6311A81}"/>
              </a:ext>
            </a:extLst>
          </p:cNvPr>
          <p:cNvCxnSpPr>
            <a:cxnSpLocks/>
          </p:cNvCxnSpPr>
          <p:nvPr/>
        </p:nvCxnSpPr>
        <p:spPr>
          <a:xfrm>
            <a:off x="712270" y="2363000"/>
            <a:ext cx="7626417" cy="2651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A9D864C-C4F1-0E25-9672-F14AFC1AAE33}"/>
              </a:ext>
            </a:extLst>
          </p:cNvPr>
          <p:cNvSpPr txBox="1"/>
          <p:nvPr/>
        </p:nvSpPr>
        <p:spPr>
          <a:xfrm>
            <a:off x="240632" y="482864"/>
            <a:ext cx="7599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將</a:t>
            </a:r>
            <a:r>
              <a:rPr lang="en-US" altLang="zh-TW" b="1" dirty="0" err="1"/>
              <a:t>mAb</a:t>
            </a:r>
            <a:r>
              <a:rPr lang="zh-TW" altLang="en-US" b="1" dirty="0"/>
              <a:t>測得的分子量，用來計算接上</a:t>
            </a:r>
            <a:r>
              <a:rPr lang="en-US" altLang="zh-TW" b="1" dirty="0"/>
              <a:t>linker-payload</a:t>
            </a:r>
            <a:r>
              <a:rPr lang="zh-TW" altLang="en-US" b="1" dirty="0"/>
              <a:t>後的理論分子量組合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653628D-1EFE-B64A-50E6-51B99FD99A63}"/>
              </a:ext>
            </a:extLst>
          </p:cNvPr>
          <p:cNvSpPr txBox="1"/>
          <p:nvPr/>
        </p:nvSpPr>
        <p:spPr>
          <a:xfrm>
            <a:off x="0" y="1453885"/>
            <a:ext cx="1640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 err="1">
                <a:solidFill>
                  <a:srgbClr val="FF0000"/>
                </a:solidFill>
              </a:rPr>
              <a:t>mAb</a:t>
            </a:r>
            <a:r>
              <a:rPr lang="zh-TW" altLang="en-US" sz="1600" b="1" dirty="0">
                <a:solidFill>
                  <a:srgbClr val="FF0000"/>
                </a:solidFill>
              </a:rPr>
              <a:t>測得分子量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6E303A1-C1A2-DA7A-4EB6-61AFD8676164}"/>
              </a:ext>
            </a:extLst>
          </p:cNvPr>
          <p:cNvSpPr txBox="1"/>
          <p:nvPr/>
        </p:nvSpPr>
        <p:spPr>
          <a:xfrm>
            <a:off x="4078631" y="1521849"/>
            <a:ext cx="5033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solidFill>
                  <a:srgbClr val="FF0000"/>
                </a:solidFill>
              </a:rPr>
              <a:t>（計算推論</a:t>
            </a:r>
            <a:r>
              <a:rPr lang="en-US" altLang="zh-TW" sz="1600" b="1" dirty="0" err="1">
                <a:solidFill>
                  <a:srgbClr val="FF0000"/>
                </a:solidFill>
              </a:rPr>
              <a:t>mAb</a:t>
            </a:r>
            <a:r>
              <a:rPr lang="zh-TW" altLang="en-US" sz="1600" b="1" dirty="0">
                <a:solidFill>
                  <a:srgbClr val="FF0000"/>
                </a:solidFill>
              </a:rPr>
              <a:t>接上</a:t>
            </a:r>
            <a:r>
              <a:rPr lang="en-US" altLang="zh-TW" sz="1600" b="1" dirty="0">
                <a:solidFill>
                  <a:srgbClr val="FF0000"/>
                </a:solidFill>
              </a:rPr>
              <a:t>linker-payload</a:t>
            </a:r>
            <a:r>
              <a:rPr lang="zh-TW" altLang="en-US" sz="1600" b="1" dirty="0">
                <a:solidFill>
                  <a:srgbClr val="FF0000"/>
                </a:solidFill>
              </a:rPr>
              <a:t>理論分子量組合）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B8DAFEE-AB03-5A64-785A-335867BA555F}"/>
              </a:ext>
            </a:extLst>
          </p:cNvPr>
          <p:cNvSpPr/>
          <p:nvPr/>
        </p:nvSpPr>
        <p:spPr>
          <a:xfrm>
            <a:off x="118871" y="1839742"/>
            <a:ext cx="526021" cy="15892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21">
            <a:extLst>
              <a:ext uri="{FF2B5EF4-FFF2-40B4-BE49-F238E27FC236}">
                <a16:creationId xmlns:a16="http://schemas.microsoft.com/office/drawing/2014/main" id="{F43188D0-A509-2311-D486-01C1B11A3736}"/>
              </a:ext>
            </a:extLst>
          </p:cNvPr>
          <p:cNvSpPr txBox="1"/>
          <p:nvPr/>
        </p:nvSpPr>
        <p:spPr>
          <a:xfrm>
            <a:off x="6517317" y="1158128"/>
            <a:ext cx="19476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Linker payload MW</a:t>
            </a:r>
            <a:endParaRPr lang="zh-TW" altLang="en-US" sz="1600" b="1" dirty="0">
              <a:solidFill>
                <a:srgbClr val="FF0000"/>
              </a:solidFill>
            </a:endParaRPr>
          </a:p>
        </p:txBody>
      </p:sp>
      <p:sp>
        <p:nvSpPr>
          <p:cNvPr id="3" name="文字方塊 21">
            <a:extLst>
              <a:ext uri="{FF2B5EF4-FFF2-40B4-BE49-F238E27FC236}">
                <a16:creationId xmlns:a16="http://schemas.microsoft.com/office/drawing/2014/main" id="{1463CBAD-77CC-91D4-02DA-957F2A8ADC2E}"/>
              </a:ext>
            </a:extLst>
          </p:cNvPr>
          <p:cNvSpPr txBox="1"/>
          <p:nvPr/>
        </p:nvSpPr>
        <p:spPr>
          <a:xfrm>
            <a:off x="7839764" y="824716"/>
            <a:ext cx="25966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i="1" dirty="0">
                <a:solidFill>
                  <a:srgbClr val="FF0000"/>
                </a:solidFill>
              </a:rPr>
              <a:t>Linker payload item [4] and [12]</a:t>
            </a:r>
            <a:endParaRPr lang="zh-TW" altLang="en-US" sz="1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586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B8076-C3F5-3C68-4C2B-2CB5301AD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4079408-B856-FC32-0A28-7EF399EF8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8788"/>
            <a:ext cx="12192000" cy="4620423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23A9C7B4-54C9-E378-6420-7F4DA42FB83E}"/>
              </a:ext>
            </a:extLst>
          </p:cNvPr>
          <p:cNvSpPr txBox="1"/>
          <p:nvPr/>
        </p:nvSpPr>
        <p:spPr>
          <a:xfrm>
            <a:off x="135167" y="330693"/>
            <a:ext cx="5277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比對找出相似的分子量，判定為何種</a:t>
            </a:r>
            <a:r>
              <a:rPr lang="en-US" altLang="zh-TW" b="1" dirty="0"/>
              <a:t>specie</a:t>
            </a:r>
            <a:r>
              <a:rPr lang="zh-TW" altLang="en-US" b="1" dirty="0"/>
              <a:t>的</a:t>
            </a:r>
            <a:r>
              <a:rPr lang="en-US" altLang="zh-TW" b="1" dirty="0"/>
              <a:t>ADC</a:t>
            </a:r>
            <a:endParaRPr lang="zh-TW" altLang="en-US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A930282-A617-E7B9-2F2E-B2F350525DAA}"/>
              </a:ext>
            </a:extLst>
          </p:cNvPr>
          <p:cNvSpPr txBox="1"/>
          <p:nvPr/>
        </p:nvSpPr>
        <p:spPr>
          <a:xfrm>
            <a:off x="1545336" y="1417094"/>
            <a:ext cx="16273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ADC</a:t>
            </a:r>
            <a:r>
              <a:rPr lang="zh-TW" altLang="en-US" sz="1600" b="1" dirty="0">
                <a:solidFill>
                  <a:srgbClr val="FF0000"/>
                </a:solidFill>
              </a:rPr>
              <a:t>測得分子量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7CE65D-AB68-F6CC-12D4-105B354DD42A}"/>
              </a:ext>
            </a:extLst>
          </p:cNvPr>
          <p:cNvSpPr/>
          <p:nvPr/>
        </p:nvSpPr>
        <p:spPr>
          <a:xfrm>
            <a:off x="1856232" y="1874520"/>
            <a:ext cx="722376" cy="38646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915AE16-5CF7-015F-B5B1-C03871CB9A80}"/>
              </a:ext>
            </a:extLst>
          </p:cNvPr>
          <p:cNvSpPr txBox="1"/>
          <p:nvPr/>
        </p:nvSpPr>
        <p:spPr>
          <a:xfrm>
            <a:off x="3461946" y="884385"/>
            <a:ext cx="26340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Delta mass =</a:t>
            </a:r>
          </a:p>
          <a:p>
            <a:r>
              <a:rPr lang="en-US" altLang="zh-TW" sz="1600" b="1" dirty="0">
                <a:solidFill>
                  <a:srgbClr val="FF0000"/>
                </a:solidFill>
              </a:rPr>
              <a:t>(</a:t>
            </a:r>
            <a:r>
              <a:rPr lang="zh-TW" altLang="en-US" sz="1600" b="1" dirty="0">
                <a:solidFill>
                  <a:srgbClr val="FF0000"/>
                </a:solidFill>
              </a:rPr>
              <a:t>測得分子量</a:t>
            </a:r>
            <a:r>
              <a:rPr lang="en-US" altLang="zh-TW" sz="1600" b="1" dirty="0">
                <a:solidFill>
                  <a:srgbClr val="FF0000"/>
                </a:solidFill>
              </a:rPr>
              <a:t>) - (</a:t>
            </a:r>
            <a:r>
              <a:rPr lang="zh-TW" altLang="en-US" sz="1600" b="1" dirty="0">
                <a:solidFill>
                  <a:srgbClr val="FF0000"/>
                </a:solidFill>
              </a:rPr>
              <a:t>理論分子量</a:t>
            </a:r>
            <a:r>
              <a:rPr lang="en-US" altLang="zh-TW" sz="1600" b="1" dirty="0">
                <a:solidFill>
                  <a:srgbClr val="FF0000"/>
                </a:solidFill>
              </a:rPr>
              <a:t>)</a:t>
            </a:r>
            <a:endParaRPr lang="zh-TW" altLang="en-US" sz="1600" b="1" dirty="0">
              <a:solidFill>
                <a:srgbClr val="FF0000"/>
              </a:solidFill>
            </a:endParaRP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D73B5A79-CEA0-3A8D-A2CC-631562AADCDC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4778973" y="1469160"/>
            <a:ext cx="990015" cy="387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6016D54-01F6-2AE0-D758-A7069CDC50F0}"/>
              </a:ext>
            </a:extLst>
          </p:cNvPr>
          <p:cNvSpPr txBox="1"/>
          <p:nvPr/>
        </p:nvSpPr>
        <p:spPr>
          <a:xfrm>
            <a:off x="6044680" y="656330"/>
            <a:ext cx="39276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Accuracy ppm:</a:t>
            </a:r>
          </a:p>
          <a:p>
            <a:r>
              <a:rPr lang="en-US" altLang="zh-TW" sz="1600" b="1" dirty="0">
                <a:solidFill>
                  <a:srgbClr val="FF0000"/>
                </a:solidFill>
              </a:rPr>
              <a:t>(</a:t>
            </a:r>
            <a:r>
              <a:rPr lang="zh-TW" altLang="en-US" sz="1600" b="1" dirty="0">
                <a:solidFill>
                  <a:srgbClr val="FF0000"/>
                </a:solidFill>
              </a:rPr>
              <a:t>測得分子量</a:t>
            </a:r>
            <a:r>
              <a:rPr lang="en-US" altLang="zh-TW" sz="1600" b="1" dirty="0">
                <a:solidFill>
                  <a:srgbClr val="FF0000"/>
                </a:solidFill>
              </a:rPr>
              <a:t>-</a:t>
            </a:r>
            <a:r>
              <a:rPr lang="zh-TW" altLang="en-US" sz="1600" b="1" dirty="0">
                <a:solidFill>
                  <a:srgbClr val="FF0000"/>
                </a:solidFill>
              </a:rPr>
              <a:t>理論分子量</a:t>
            </a:r>
            <a:r>
              <a:rPr lang="en-US" altLang="zh-TW" sz="1600" b="1" dirty="0">
                <a:solidFill>
                  <a:srgbClr val="FF0000"/>
                </a:solidFill>
              </a:rPr>
              <a:t>)/</a:t>
            </a:r>
            <a:r>
              <a:rPr lang="zh-TW" altLang="en-US" sz="1600" b="1" dirty="0">
                <a:solidFill>
                  <a:srgbClr val="FF0000"/>
                </a:solidFill>
              </a:rPr>
              <a:t>理論分子量</a:t>
            </a:r>
            <a:r>
              <a:rPr lang="en-US" altLang="zh-TW" sz="1600" b="1" dirty="0">
                <a:solidFill>
                  <a:srgbClr val="FF0000"/>
                </a:solidFill>
              </a:rPr>
              <a:t>x10</a:t>
            </a:r>
            <a:r>
              <a:rPr lang="en-US" altLang="zh-TW" sz="1600" b="1" baseline="30000" dirty="0">
                <a:solidFill>
                  <a:srgbClr val="FF0000"/>
                </a:solidFill>
              </a:rPr>
              <a:t>6</a:t>
            </a:r>
          </a:p>
          <a:p>
            <a:r>
              <a:rPr lang="zh-TW" altLang="en-US" sz="1600" b="1" dirty="0">
                <a:solidFill>
                  <a:srgbClr val="FF0000"/>
                </a:solidFill>
              </a:rPr>
              <a:t>精準時</a:t>
            </a:r>
            <a:r>
              <a:rPr lang="en-US" altLang="zh-TW" sz="1600" b="1" dirty="0">
                <a:solidFill>
                  <a:srgbClr val="FF0000"/>
                </a:solidFill>
              </a:rPr>
              <a:t>&lt;20 ppm,</a:t>
            </a:r>
            <a:r>
              <a:rPr lang="zh-TW" altLang="en-US" sz="1600" b="1" dirty="0">
                <a:solidFill>
                  <a:srgbClr val="FF0000"/>
                </a:solidFill>
              </a:rPr>
              <a:t> 不經準時約</a:t>
            </a:r>
            <a:r>
              <a:rPr lang="en-US" altLang="zh-TW" sz="1600" b="1" dirty="0">
                <a:solidFill>
                  <a:srgbClr val="FF0000"/>
                </a:solidFill>
              </a:rPr>
              <a:t>300 ppm</a:t>
            </a:r>
            <a:endParaRPr lang="zh-TW" altLang="en-US" sz="1600" b="1" dirty="0">
              <a:solidFill>
                <a:srgbClr val="FF0000"/>
              </a:solidFill>
            </a:endParaRPr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AC18DCEC-A537-A64D-80BD-D8A37667864D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6854998" y="1487327"/>
            <a:ext cx="1153521" cy="387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719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1223C5B-7549-485A-0CB4-ABEE5D9AE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77" y="1545336"/>
            <a:ext cx="7109126" cy="440588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865364C-85CE-4B28-A39C-852DEDD1F6B3}"/>
              </a:ext>
            </a:extLst>
          </p:cNvPr>
          <p:cNvSpPr txBox="1"/>
          <p:nvPr/>
        </p:nvSpPr>
        <p:spPr>
          <a:xfrm>
            <a:off x="135167" y="330693"/>
            <a:ext cx="1324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DAR</a:t>
            </a:r>
            <a:r>
              <a:rPr lang="zh-TW" altLang="en-US" b="1" dirty="0"/>
              <a:t>值計算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C409EE7-52FA-AA1C-7D8D-5CD5777B82EE}"/>
              </a:ext>
            </a:extLst>
          </p:cNvPr>
          <p:cNvSpPr txBox="1"/>
          <p:nvPr/>
        </p:nvSpPr>
        <p:spPr>
          <a:xfrm>
            <a:off x="2642616" y="859310"/>
            <a:ext cx="53081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Relative abundance = Specie</a:t>
            </a:r>
            <a:r>
              <a:rPr lang="zh-TW" altLang="en-US" sz="1600" b="1" dirty="0">
                <a:solidFill>
                  <a:srgbClr val="FF0000"/>
                </a:solidFill>
              </a:rPr>
              <a:t>的</a:t>
            </a:r>
            <a:r>
              <a:rPr lang="en-US" altLang="zh-TW" sz="1600" b="1" dirty="0">
                <a:solidFill>
                  <a:srgbClr val="FF0000"/>
                </a:solidFill>
              </a:rPr>
              <a:t>intensity/total intensity</a:t>
            </a:r>
          </a:p>
          <a:p>
            <a:endParaRPr lang="zh-TW" altLang="en-US" sz="1600" b="1" dirty="0">
              <a:solidFill>
                <a:srgbClr val="FF0000"/>
              </a:solidFill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556B4CDB-43FF-0D0E-2162-7EEE9D34E2B9}"/>
              </a:ext>
            </a:extLst>
          </p:cNvPr>
          <p:cNvCxnSpPr>
            <a:cxnSpLocks/>
          </p:cNvCxnSpPr>
          <p:nvPr/>
        </p:nvCxnSpPr>
        <p:spPr>
          <a:xfrm flipH="1">
            <a:off x="3529584" y="1197864"/>
            <a:ext cx="1773936" cy="347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CF96AE2-7DC0-1C27-615C-050480A2DF0B}"/>
              </a:ext>
            </a:extLst>
          </p:cNvPr>
          <p:cNvSpPr txBox="1"/>
          <p:nvPr/>
        </p:nvSpPr>
        <p:spPr>
          <a:xfrm>
            <a:off x="7950800" y="1261205"/>
            <a:ext cx="37502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Specie</a:t>
            </a:r>
            <a:r>
              <a:rPr lang="zh-TW" altLang="en-US" sz="1600" b="1" dirty="0">
                <a:solidFill>
                  <a:srgbClr val="FF0000"/>
                </a:solidFill>
              </a:rPr>
              <a:t>的</a:t>
            </a:r>
            <a:r>
              <a:rPr lang="en-US" altLang="zh-TW" sz="1600" b="1" dirty="0">
                <a:solidFill>
                  <a:srgbClr val="FF0000"/>
                </a:solidFill>
              </a:rPr>
              <a:t>DAR=</a:t>
            </a:r>
          </a:p>
          <a:p>
            <a:r>
              <a:rPr lang="en-US" altLang="zh-TW" sz="1600" b="1" dirty="0">
                <a:solidFill>
                  <a:srgbClr val="FF0000"/>
                </a:solidFill>
              </a:rPr>
              <a:t>relative abundance x linker-payload</a:t>
            </a:r>
            <a:r>
              <a:rPr lang="zh-TW" altLang="en-US" sz="1600" b="1" dirty="0">
                <a:solidFill>
                  <a:srgbClr val="FF0000"/>
                </a:solidFill>
              </a:rPr>
              <a:t>數</a:t>
            </a:r>
            <a:r>
              <a:rPr lang="en-US" altLang="zh-TW" sz="1600" b="1" dirty="0">
                <a:solidFill>
                  <a:srgbClr val="FF0000"/>
                </a:solidFill>
              </a:rPr>
              <a:t> </a:t>
            </a:r>
          </a:p>
          <a:p>
            <a:endParaRPr lang="zh-TW" altLang="en-US" sz="1600" b="1" dirty="0">
              <a:solidFill>
                <a:srgbClr val="FF0000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46E306-DA1F-7A65-EC4A-53ED80DC3D1F}"/>
              </a:ext>
            </a:extLst>
          </p:cNvPr>
          <p:cNvSpPr/>
          <p:nvPr/>
        </p:nvSpPr>
        <p:spPr>
          <a:xfrm>
            <a:off x="6096000" y="2092202"/>
            <a:ext cx="762000" cy="35884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F32226C8-11F2-472F-9BAE-26CA67BE1EB2}"/>
              </a:ext>
            </a:extLst>
          </p:cNvPr>
          <p:cNvCxnSpPr>
            <a:cxnSpLocks/>
          </p:cNvCxnSpPr>
          <p:nvPr/>
        </p:nvCxnSpPr>
        <p:spPr>
          <a:xfrm flipH="1">
            <a:off x="6930734" y="1836169"/>
            <a:ext cx="1773936" cy="347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DD748EB5-1949-1910-2797-A509EB9AEA03}"/>
              </a:ext>
            </a:extLst>
          </p:cNvPr>
          <p:cNvSpPr txBox="1"/>
          <p:nvPr/>
        </p:nvSpPr>
        <p:spPr>
          <a:xfrm>
            <a:off x="5670255" y="5986019"/>
            <a:ext cx="21474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solidFill>
                  <a:srgbClr val="FF0000"/>
                </a:solidFill>
              </a:rPr>
              <a:t>Total DAR=</a:t>
            </a:r>
          </a:p>
          <a:p>
            <a:r>
              <a:rPr lang="zh-TW" altLang="en-US" sz="1600" b="1" dirty="0">
                <a:solidFill>
                  <a:srgbClr val="FF0000"/>
                </a:solidFill>
              </a:rPr>
              <a:t>加總各</a:t>
            </a:r>
            <a:r>
              <a:rPr lang="en-US" altLang="zh-TW" sz="1600" b="1" dirty="0">
                <a:solidFill>
                  <a:srgbClr val="FF0000"/>
                </a:solidFill>
              </a:rPr>
              <a:t>Species</a:t>
            </a:r>
            <a:r>
              <a:rPr lang="zh-TW" altLang="en-US" sz="1600" b="1" dirty="0">
                <a:solidFill>
                  <a:srgbClr val="FF0000"/>
                </a:solidFill>
              </a:rPr>
              <a:t>的</a:t>
            </a:r>
            <a:r>
              <a:rPr lang="en-US" altLang="zh-TW" sz="1600" b="1" dirty="0">
                <a:solidFill>
                  <a:srgbClr val="FF0000"/>
                </a:solidFill>
              </a:rPr>
              <a:t>DAR</a:t>
            </a:r>
          </a:p>
          <a:p>
            <a:endParaRPr lang="zh-TW" altLang="en-US" sz="1600" b="1" dirty="0">
              <a:solidFill>
                <a:srgbClr val="FF0000"/>
              </a:solidFill>
            </a:endParaRPr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CD3F60CC-9C07-0FDA-D441-A07DBDDE8C59}"/>
              </a:ext>
            </a:extLst>
          </p:cNvPr>
          <p:cNvCxnSpPr>
            <a:cxnSpLocks/>
          </p:cNvCxnSpPr>
          <p:nvPr/>
        </p:nvCxnSpPr>
        <p:spPr>
          <a:xfrm flipV="1">
            <a:off x="6291072" y="5830320"/>
            <a:ext cx="185928" cy="2411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091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152</Words>
  <Application>Microsoft Macintosh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Hsia</dc:creator>
  <cp:lastModifiedBy>Morris Chiang</cp:lastModifiedBy>
  <cp:revision>4</cp:revision>
  <dcterms:created xsi:type="dcterms:W3CDTF">2026-08-19T08:02:09Z</dcterms:created>
  <dcterms:modified xsi:type="dcterms:W3CDTF">2026-08-19T09:00:37Z</dcterms:modified>
</cp:coreProperties>
</file>